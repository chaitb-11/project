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9" r:id="rId6"/>
    <p:sldId id="316" r:id="rId7"/>
    <p:sldId id="310" r:id="rId8"/>
    <p:sldId id="311" r:id="rId9"/>
    <p:sldId id="312" r:id="rId10"/>
    <p:sldId id="313" r:id="rId11"/>
    <p:sldId id="314" r:id="rId12"/>
    <p:sldId id="315" r:id="rId13"/>
    <p:sldId id="317" r:id="rId14"/>
    <p:sldId id="318" r:id="rId15"/>
    <p:sldId id="319" r:id="rId16"/>
    <p:sldId id="320" r:id="rId17"/>
    <p:sldId id="321" r:id="rId18"/>
    <p:sldId id="322" r:id="rId19"/>
    <p:sldId id="30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B6056BFB-47D7-4C5F-BA11-2CB63C56A52D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311B26C8-22B1-4363-B621-DD56FB7418C8}" type="pres">
      <dgm:prSet presAssocID="{40FC4FFE-8987-4A26-B7F4-8A516F18ADAE}" presName="compNode" presStyleCnt="0"/>
      <dgm:spPr/>
    </dgm:pt>
    <dgm:pt modelId="{A201D7A7-914C-4D24-8B82-EE40155AB0BE}" type="pres">
      <dgm:prSet presAssocID="{40FC4FFE-8987-4A26-B7F4-8A516F18ADAE}" presName="iconBgRect" presStyleLbl="bgShp" presStyleIdx="0" presStyleCnt="3"/>
      <dgm:spPr>
        <a:prstGeom prst="ellipse">
          <a:avLst/>
        </a:prstGeom>
      </dgm:spPr>
    </dgm:pt>
    <dgm:pt modelId="{8FA2F131-CD01-4CBD-B7A5-1B9B5E7F040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F755F00C-B2DB-4097-B4BC-8F1BACC938B7}" type="pres">
      <dgm:prSet presAssocID="{40FC4FFE-8987-4A26-B7F4-8A516F18ADAE}" presName="spaceRect" presStyleCnt="0"/>
      <dgm:spPr/>
    </dgm:pt>
    <dgm:pt modelId="{08F4E96D-0DB6-4476-8C51-7CC7EC2F227B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5AB3C10D-885E-4522-AB39-7ED4318D191A}" type="pres">
      <dgm:prSet presAssocID="{5B62599A-5C9B-48E7-896E-EA782AC60C8B}" presName="sibTrans" presStyleCnt="0"/>
      <dgm:spPr/>
    </dgm:pt>
    <dgm:pt modelId="{2F278BF9-E1B2-4A1C-B065-C19A7B904219}" type="pres">
      <dgm:prSet presAssocID="{49225C73-1633-42F1-AB3B-7CB183E5F8B8}" presName="compNode" presStyleCnt="0"/>
      <dgm:spPr/>
    </dgm:pt>
    <dgm:pt modelId="{543C18BC-1989-44B2-9862-C670C61D3452}" type="pres">
      <dgm:prSet presAssocID="{49225C73-1633-42F1-AB3B-7CB183E5F8B8}" presName="iconBgRect" presStyleLbl="bgShp" presStyleIdx="1" presStyleCnt="3"/>
      <dgm:spPr>
        <a:prstGeom prst="ellipse">
          <a:avLst/>
        </a:prstGeom>
      </dgm:spPr>
    </dgm:pt>
    <dgm:pt modelId="{E94F35BC-9C76-400A-BBCA-0032259E2E5A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03A6D04-9ADD-43CC-9847-497CD48F2D11}" type="pres">
      <dgm:prSet presAssocID="{49225C73-1633-42F1-AB3B-7CB183E5F8B8}" presName="spaceRect" presStyleCnt="0"/>
      <dgm:spPr/>
    </dgm:pt>
    <dgm:pt modelId="{20363298-B2A6-463D-A7BE-F9F67404E389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A47947BB-708D-4F7E-B072-3C2E42B34B24}" type="pres">
      <dgm:prSet presAssocID="{9646853A-8964-4519-A5B1-0B7D18B2983D}" presName="sibTrans" presStyleCnt="0"/>
      <dgm:spPr/>
    </dgm:pt>
    <dgm:pt modelId="{BDCD0AC9-D564-4025-AD8A-36664A6CBE31}" type="pres">
      <dgm:prSet presAssocID="{1C383F32-22E8-4F62-A3E0-BDC3D5F48992}" presName="compNode" presStyleCnt="0"/>
      <dgm:spPr/>
    </dgm:pt>
    <dgm:pt modelId="{5BDDFF18-9AEC-4E5E-B9AA-33D86F01A63E}" type="pres">
      <dgm:prSet presAssocID="{1C383F32-22E8-4F62-A3E0-BDC3D5F48992}" presName="iconBgRect" presStyleLbl="bgShp" presStyleIdx="2" presStyleCnt="3"/>
      <dgm:spPr>
        <a:prstGeom prst="ellipse">
          <a:avLst/>
        </a:prstGeom>
      </dgm:spPr>
    </dgm:pt>
    <dgm:pt modelId="{F09AEBFF-D2D3-4FFF-AD65-C3CEAEEB10F2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2EBFBCF-0520-415A-A886-3C4F90D208EF}" type="pres">
      <dgm:prSet presAssocID="{1C383F32-22E8-4F62-A3E0-BDC3D5F48992}" presName="spaceRect" presStyleCnt="0"/>
      <dgm:spPr/>
    </dgm:pt>
    <dgm:pt modelId="{AB9CAFAA-6939-48A6-A89B-19D1A94B9EA1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BA953D32-2DFF-47FE-AF26-C6B9E63D38DF}" type="presOf" srcId="{49225C73-1633-42F1-AB3B-7CB183E5F8B8}" destId="{20363298-B2A6-463D-A7BE-F9F67404E389}" srcOrd="0" destOrd="0" presId="urn:microsoft.com/office/officeart/2018/5/layout/IconLeafLabelList"/>
    <dgm:cxn modelId="{EC450542-0ED9-4BD6-9E85-5709B80794C5}" type="presOf" srcId="{01A66772-F185-4D58-B8BB-E9370D7A7A2B}" destId="{B6056BFB-47D7-4C5F-BA11-2CB63C56A52D}" srcOrd="0" destOrd="0" presId="urn:microsoft.com/office/officeart/2018/5/layout/IconLeaf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D55FAE9C-CF3C-44F3-9D1E-DE6DF574E6D9}" type="presOf" srcId="{1C383F32-22E8-4F62-A3E0-BDC3D5F48992}" destId="{AB9CAFAA-6939-48A6-A89B-19D1A94B9EA1}" srcOrd="0" destOrd="0" presId="urn:microsoft.com/office/officeart/2018/5/layout/IconLeafLabelList"/>
    <dgm:cxn modelId="{A85983B4-FADF-419C-BC71-B5F0871C3055}" type="presOf" srcId="{40FC4FFE-8987-4A26-B7F4-8A516F18ADAE}" destId="{08F4E96D-0DB6-4476-8C51-7CC7EC2F227B}" srcOrd="0" destOrd="0" presId="urn:microsoft.com/office/officeart/2018/5/layout/IconLeafLabelList"/>
    <dgm:cxn modelId="{A3E74EE8-8900-4EBD-8983-3BF0AFD6DCC7}" type="presParOf" srcId="{B6056BFB-47D7-4C5F-BA11-2CB63C56A52D}" destId="{311B26C8-22B1-4363-B621-DD56FB7418C8}" srcOrd="0" destOrd="0" presId="urn:microsoft.com/office/officeart/2018/5/layout/IconLeafLabelList"/>
    <dgm:cxn modelId="{044EA9E0-B51B-492A-BE32-015CEAD0BAC9}" type="presParOf" srcId="{311B26C8-22B1-4363-B621-DD56FB7418C8}" destId="{A201D7A7-914C-4D24-8B82-EE40155AB0BE}" srcOrd="0" destOrd="0" presId="urn:microsoft.com/office/officeart/2018/5/layout/IconLeafLabelList"/>
    <dgm:cxn modelId="{08373EC6-14CB-429D-9495-F32683B931D7}" type="presParOf" srcId="{311B26C8-22B1-4363-B621-DD56FB7418C8}" destId="{8FA2F131-CD01-4CBD-B7A5-1B9B5E7F0402}" srcOrd="1" destOrd="0" presId="urn:microsoft.com/office/officeart/2018/5/layout/IconLeafLabelList"/>
    <dgm:cxn modelId="{9AB500F0-62A2-4E73-B4F4-5056804C8D6A}" type="presParOf" srcId="{311B26C8-22B1-4363-B621-DD56FB7418C8}" destId="{F755F00C-B2DB-4097-B4BC-8F1BACC938B7}" srcOrd="2" destOrd="0" presId="urn:microsoft.com/office/officeart/2018/5/layout/IconLeafLabelList"/>
    <dgm:cxn modelId="{676606A7-6564-4CEB-ACE0-4FF9A3A04E67}" type="presParOf" srcId="{311B26C8-22B1-4363-B621-DD56FB7418C8}" destId="{08F4E96D-0DB6-4476-8C51-7CC7EC2F227B}" srcOrd="3" destOrd="0" presId="urn:microsoft.com/office/officeart/2018/5/layout/IconLeafLabelList"/>
    <dgm:cxn modelId="{EAE0F94A-A454-4049-84F7-9EC90E847A03}" type="presParOf" srcId="{B6056BFB-47D7-4C5F-BA11-2CB63C56A52D}" destId="{5AB3C10D-885E-4522-AB39-7ED4318D191A}" srcOrd="1" destOrd="0" presId="urn:microsoft.com/office/officeart/2018/5/layout/IconLeafLabelList"/>
    <dgm:cxn modelId="{B0B5B21A-5ADD-4500-9A67-9B26AF543EBA}" type="presParOf" srcId="{B6056BFB-47D7-4C5F-BA11-2CB63C56A52D}" destId="{2F278BF9-E1B2-4A1C-B065-C19A7B904219}" srcOrd="2" destOrd="0" presId="urn:microsoft.com/office/officeart/2018/5/layout/IconLeafLabelList"/>
    <dgm:cxn modelId="{11FEAF2C-54F7-4E9C-A1D6-5FA0BF7F3665}" type="presParOf" srcId="{2F278BF9-E1B2-4A1C-B065-C19A7B904219}" destId="{543C18BC-1989-44B2-9862-C670C61D3452}" srcOrd="0" destOrd="0" presId="urn:microsoft.com/office/officeart/2018/5/layout/IconLeafLabelList"/>
    <dgm:cxn modelId="{92C17ECB-A80D-4A0E-95CF-40A53D32275F}" type="presParOf" srcId="{2F278BF9-E1B2-4A1C-B065-C19A7B904219}" destId="{E94F35BC-9C76-400A-BBCA-0032259E2E5A}" srcOrd="1" destOrd="0" presId="urn:microsoft.com/office/officeart/2018/5/layout/IconLeafLabelList"/>
    <dgm:cxn modelId="{54E5AE33-4BE6-44E7-871B-1103A0BA7A56}" type="presParOf" srcId="{2F278BF9-E1B2-4A1C-B065-C19A7B904219}" destId="{503A6D04-9ADD-43CC-9847-497CD48F2D11}" srcOrd="2" destOrd="0" presId="urn:microsoft.com/office/officeart/2018/5/layout/IconLeafLabelList"/>
    <dgm:cxn modelId="{3575FCA0-4FCE-460A-8D84-2C767D311A20}" type="presParOf" srcId="{2F278BF9-E1B2-4A1C-B065-C19A7B904219}" destId="{20363298-B2A6-463D-A7BE-F9F67404E389}" srcOrd="3" destOrd="0" presId="urn:microsoft.com/office/officeart/2018/5/layout/IconLeafLabelList"/>
    <dgm:cxn modelId="{4FD22448-C17B-4C43-BAB3-A0B7AA9BCE0D}" type="presParOf" srcId="{B6056BFB-47D7-4C5F-BA11-2CB63C56A52D}" destId="{A47947BB-708D-4F7E-B072-3C2E42B34B24}" srcOrd="3" destOrd="0" presId="urn:microsoft.com/office/officeart/2018/5/layout/IconLeafLabelList"/>
    <dgm:cxn modelId="{75E30F4F-0E76-457B-9D4F-CDE27C2F7F77}" type="presParOf" srcId="{B6056BFB-47D7-4C5F-BA11-2CB63C56A52D}" destId="{BDCD0AC9-D564-4025-AD8A-36664A6CBE31}" srcOrd="4" destOrd="0" presId="urn:microsoft.com/office/officeart/2018/5/layout/IconLeafLabelList"/>
    <dgm:cxn modelId="{C6A367E7-6A7C-42CB-94E4-8EA78AEF87BF}" type="presParOf" srcId="{BDCD0AC9-D564-4025-AD8A-36664A6CBE31}" destId="{5BDDFF18-9AEC-4E5E-B9AA-33D86F01A63E}" srcOrd="0" destOrd="0" presId="urn:microsoft.com/office/officeart/2018/5/layout/IconLeafLabelList"/>
    <dgm:cxn modelId="{B180CBEB-FA9F-4E52-8CA3-A65CB80BB91B}" type="presParOf" srcId="{BDCD0AC9-D564-4025-AD8A-36664A6CBE31}" destId="{F09AEBFF-D2D3-4FFF-AD65-C3CEAEEB10F2}" srcOrd="1" destOrd="0" presId="urn:microsoft.com/office/officeart/2018/5/layout/IconLeafLabelList"/>
    <dgm:cxn modelId="{170B020E-1E19-4EB4-A72C-4FCF01A7DD7E}" type="presParOf" srcId="{BDCD0AC9-D564-4025-AD8A-36664A6CBE31}" destId="{F2EBFBCF-0520-415A-A886-3C4F90D208EF}" srcOrd="2" destOrd="0" presId="urn:microsoft.com/office/officeart/2018/5/layout/IconLeafLabelList"/>
    <dgm:cxn modelId="{CADD8F7D-722C-42A0-AF21-39A3559F8D7B}" type="presParOf" srcId="{BDCD0AC9-D564-4025-AD8A-36664A6CBE31}" destId="{AB9CAFAA-6939-48A6-A89B-19D1A94B9EA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01D7A7-914C-4D24-8B82-EE40155AB0BE}">
      <dsp:nvSpPr>
        <dsp:cNvPr id="0" name=""/>
        <dsp:cNvSpPr/>
      </dsp:nvSpPr>
      <dsp:spPr>
        <a:xfrm>
          <a:off x="616949" y="34053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2F131-CD01-4CBD-B7A5-1B9B5E7F0402}">
      <dsp:nvSpPr>
        <dsp:cNvPr id="0" name=""/>
        <dsp:cNvSpPr/>
      </dsp:nvSpPr>
      <dsp:spPr>
        <a:xfrm>
          <a:off x="1004512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4E96D-0DB6-4476-8C51-7CC7EC2F227B}">
      <dsp:nvSpPr>
        <dsp:cNvPr id="0" name=""/>
        <dsp:cNvSpPr/>
      </dsp:nvSpPr>
      <dsp:spPr>
        <a:xfrm>
          <a:off x="35606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Lorem ipsum dolor sit amet, consectetuer adipiscing elit. </a:t>
          </a:r>
        </a:p>
      </dsp:txBody>
      <dsp:txXfrm>
        <a:off x="35606" y="2725540"/>
        <a:ext cx="2981250" cy="720000"/>
      </dsp:txXfrm>
    </dsp:sp>
    <dsp:sp modelId="{543C18BC-1989-44B2-9862-C670C61D3452}">
      <dsp:nvSpPr>
        <dsp:cNvPr id="0" name=""/>
        <dsp:cNvSpPr/>
      </dsp:nvSpPr>
      <dsp:spPr>
        <a:xfrm>
          <a:off x="4119918" y="34053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F35BC-9C76-400A-BBCA-0032259E2E5A}">
      <dsp:nvSpPr>
        <dsp:cNvPr id="0" name=""/>
        <dsp:cNvSpPr/>
      </dsp:nvSpPr>
      <dsp:spPr>
        <a:xfrm>
          <a:off x="4507481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63298-B2A6-463D-A7BE-F9F67404E389}">
      <dsp:nvSpPr>
        <dsp:cNvPr id="0" name=""/>
        <dsp:cNvSpPr/>
      </dsp:nvSpPr>
      <dsp:spPr>
        <a:xfrm>
          <a:off x="3538574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Nunc viverra imperdiet enim. Fusce est. Vivamus a tellus.</a:t>
          </a:r>
        </a:p>
      </dsp:txBody>
      <dsp:txXfrm>
        <a:off x="3538574" y="2725540"/>
        <a:ext cx="2981250" cy="720000"/>
      </dsp:txXfrm>
    </dsp:sp>
    <dsp:sp modelId="{5BDDFF18-9AEC-4E5E-B9AA-33D86F01A63E}">
      <dsp:nvSpPr>
        <dsp:cNvPr id="0" name=""/>
        <dsp:cNvSpPr/>
      </dsp:nvSpPr>
      <dsp:spPr>
        <a:xfrm>
          <a:off x="7622887" y="34053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AEBFF-D2D3-4FFF-AD65-C3CEAEEB10F2}">
      <dsp:nvSpPr>
        <dsp:cNvPr id="0" name=""/>
        <dsp:cNvSpPr/>
      </dsp:nvSpPr>
      <dsp:spPr>
        <a:xfrm>
          <a:off x="8010450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CAFAA-6939-48A6-A89B-19D1A94B9EA1}">
      <dsp:nvSpPr>
        <dsp:cNvPr id="0" name=""/>
        <dsp:cNvSpPr/>
      </dsp:nvSpPr>
      <dsp:spPr>
        <a:xfrm>
          <a:off x="7041543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Pellentesque habitant morbi tristique senectus et netus.</a:t>
          </a:r>
        </a:p>
      </dsp:txBody>
      <dsp:txXfrm>
        <a:off x="7041543" y="2725540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1163764"/>
            <a:ext cx="4813072" cy="1753172"/>
          </a:xfrm>
        </p:spPr>
        <p:txBody>
          <a:bodyPr>
            <a:normAutofit/>
          </a:bodyPr>
          <a:lstStyle/>
          <a:p>
            <a:r>
              <a:rPr lang="en-US" sz="4000" dirty="0"/>
              <a:t>Smart lightning system using CAN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dirty="0"/>
              <a:t>E1-DESD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66B48-BCB4-67AD-7A26-B6792894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103EF-D783-254C-ADFF-1C4C8CBA9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Smart Lighting System using CAN protocol is an embedded system designed to provide intelligent and efficient lighting control.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uses the CAN (Controller Area Network) protocol for fast, reliable, and noise-immune communication between different lighting nodes.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system can automatically control lights based on sensor inputs such as LDR, PIR, or ultrasonic sensors.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ESP32 is used as the main controller to process sensor data and manage communication.</a:t>
            </a:r>
            <a:br>
              <a:rPr lang="en-US" dirty="0"/>
            </a:br>
            <a:r>
              <a:rPr lang="en-US" dirty="0"/>
              <a:t>CAN ensures real-time data transfer even in harsh electrical environments.</a:t>
            </a:r>
            <a:br>
              <a:rPr lang="en-US" dirty="0"/>
            </a:br>
            <a:r>
              <a:rPr lang="en-US" dirty="0"/>
              <a:t>The system helps in reducing power consumption by switching lights only when required.</a:t>
            </a:r>
            <a:br>
              <a:rPr lang="en-US" dirty="0"/>
            </a:br>
            <a:r>
              <a:rPr lang="en-US" dirty="0"/>
              <a:t>It supports centralized monitoring and control of multiple lighting units.</a:t>
            </a:r>
            <a:br>
              <a:rPr lang="en-US" dirty="0"/>
            </a:br>
            <a:r>
              <a:rPr lang="en-US" dirty="0"/>
              <a:t>The project is suitable for applications like smart buildings and street lighting.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23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E7A17-42B9-0D2D-55CF-BD1B8CFA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Architecture in Smart lighting system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9777CD-93CC-805C-A202-A1E8E57E7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1116" y="1965960"/>
            <a:ext cx="5213684" cy="4443983"/>
          </a:xfrm>
        </p:spPr>
      </p:pic>
    </p:spTree>
    <p:extLst>
      <p:ext uri="{BB962C8B-B14F-4D97-AF65-F5344CB8AC3E}">
        <p14:creationId xmlns:p14="http://schemas.microsoft.com/office/powerpoint/2010/main" val="104584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CEDF8-BF3E-FC0C-A3D7-0D22683E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about the Sensors that used:-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5A44-E282-622C-C70B-7DF958C4E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IR (Infrared) Sensor</a:t>
            </a:r>
          </a:p>
          <a:p>
            <a:r>
              <a:rPr lang="en-US" b="1" dirty="0"/>
              <a:t>Working range:</a:t>
            </a:r>
            <a:r>
              <a:rPr lang="en-US" dirty="0"/>
              <a:t> ~2 cm to 30 cm (depends on module and surface).</a:t>
            </a:r>
          </a:p>
          <a:p>
            <a:r>
              <a:rPr lang="en-US" b="1" dirty="0"/>
              <a:t>Operating voltage:</a:t>
            </a:r>
            <a:r>
              <a:rPr lang="en-US" dirty="0"/>
              <a:t> 3.3 V – 5 V.</a:t>
            </a:r>
          </a:p>
          <a:p>
            <a:r>
              <a:rPr lang="en-US" b="1" dirty="0"/>
              <a:t>Input pin (to MCU):</a:t>
            </a:r>
            <a:r>
              <a:rPr lang="en-US" dirty="0"/>
              <a:t> GPIO input pin (e.g. </a:t>
            </a:r>
            <a:r>
              <a:rPr lang="en-US" b="1" dirty="0"/>
              <a:t>PB0</a:t>
            </a:r>
            <a:r>
              <a:rPr lang="en-US" dirty="0"/>
              <a:t>)</a:t>
            </a:r>
          </a:p>
          <a:p>
            <a:r>
              <a:rPr lang="en-US" b="1" dirty="0"/>
              <a:t>Output from sensor:</a:t>
            </a:r>
            <a:r>
              <a:rPr lang="en-US" dirty="0"/>
              <a:t> Digital (HIGH / LOW)</a:t>
            </a:r>
          </a:p>
          <a:p>
            <a:r>
              <a:rPr lang="en-US" b="1" dirty="0"/>
              <a:t>Data type sent on CAN:</a:t>
            </a:r>
            <a:r>
              <a:rPr lang="en-US" dirty="0"/>
              <a:t> Object detected / not detected (1 or 0)</a:t>
            </a:r>
          </a:p>
          <a:p>
            <a:r>
              <a:rPr lang="en-US" b="1" dirty="0"/>
              <a:t>Use in this project:</a:t>
            </a:r>
            <a:r>
              <a:rPr lang="en-US" dirty="0"/>
              <a:t> Detects presence/motion near the light to turn it ON/OFF.</a:t>
            </a:r>
          </a:p>
          <a:p>
            <a:r>
              <a:rPr lang="en-US" b="1" dirty="0"/>
              <a:t>Other applications:</a:t>
            </a:r>
            <a:r>
              <a:rPr lang="en-US" dirty="0"/>
              <a:t> Obstacle detection, line follower robots, object counters.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698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E6B9-2C71-D2CD-C9AB-279A4A1E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499781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99940-8EA6-A78D-32CA-6B8516B0B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38529"/>
            <a:ext cx="10058400" cy="393056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Ultrasonic Sensor (HC-SR04 type)</a:t>
            </a:r>
          </a:p>
          <a:p>
            <a:r>
              <a:rPr lang="en-IN" b="1" dirty="0"/>
              <a:t>Trigger pin (output from MCU):</a:t>
            </a:r>
            <a:r>
              <a:rPr lang="en-IN" dirty="0"/>
              <a:t> GPIO output (e.g. </a:t>
            </a:r>
            <a:r>
              <a:rPr lang="en-IN" b="1" dirty="0"/>
              <a:t>PB1</a:t>
            </a:r>
            <a:r>
              <a:rPr lang="en-IN" dirty="0"/>
              <a:t>)</a:t>
            </a:r>
          </a:p>
          <a:p>
            <a:r>
              <a:rPr lang="en-IN" b="1" dirty="0"/>
              <a:t>Echo pin (input to MCU):</a:t>
            </a:r>
            <a:r>
              <a:rPr lang="en-IN" dirty="0"/>
              <a:t> GPIO input / Timer input capture (e.g. </a:t>
            </a:r>
            <a:r>
              <a:rPr lang="en-IN" b="1" dirty="0"/>
              <a:t>PB2</a:t>
            </a:r>
            <a:r>
              <a:rPr lang="en-IN" dirty="0"/>
              <a:t>)</a:t>
            </a:r>
          </a:p>
          <a:p>
            <a:r>
              <a:rPr lang="en-IN" b="1" dirty="0"/>
              <a:t>Output from sensor:</a:t>
            </a:r>
            <a:r>
              <a:rPr lang="en-IN" dirty="0"/>
              <a:t> Pulse width proportional to distance</a:t>
            </a:r>
          </a:p>
          <a:p>
            <a:r>
              <a:rPr lang="en-IN" b="1" dirty="0"/>
              <a:t>Data type sent on CAN:</a:t>
            </a:r>
            <a:r>
              <a:rPr lang="en-IN" dirty="0"/>
              <a:t> Distance value (in cm)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2352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C904-7B40-BF2F-B14B-0E6DCD0E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A5E59-E83F-075C-E7BF-17EE10927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LDR (Light Dependent Resistor)</a:t>
            </a:r>
          </a:p>
          <a:p>
            <a:r>
              <a:rPr lang="en-US" b="1" dirty="0"/>
              <a:t>Working range:</a:t>
            </a:r>
            <a:r>
              <a:rPr lang="en-US" dirty="0"/>
              <a:t> Depends on light intensity (lux-based).</a:t>
            </a:r>
          </a:p>
          <a:p>
            <a:r>
              <a:rPr lang="en-US" b="1" dirty="0"/>
              <a:t>Operating voltage:</a:t>
            </a:r>
            <a:r>
              <a:rPr lang="en-US" dirty="0"/>
              <a:t> Used with 3.3 V or 5 V via voltage divider.</a:t>
            </a:r>
          </a:p>
          <a:p>
            <a:r>
              <a:rPr lang="en-US" b="1" dirty="0"/>
              <a:t>Current consumption:</a:t>
            </a:r>
            <a:r>
              <a:rPr lang="en-US" dirty="0"/>
              <a:t> Very low (microamp range).</a:t>
            </a:r>
          </a:p>
          <a:p>
            <a:r>
              <a:rPr lang="en-US" b="1" dirty="0"/>
              <a:t>Output:</a:t>
            </a:r>
            <a:r>
              <a:rPr lang="en-US" dirty="0"/>
              <a:t> Analog (resistance varies with light).</a:t>
            </a:r>
          </a:p>
          <a:p>
            <a:r>
              <a:rPr lang="en-US" b="1" dirty="0"/>
              <a:t>Other parameters:</a:t>
            </a:r>
            <a:r>
              <a:rPr lang="en-US" dirty="0"/>
              <a:t> Resistance decreases as light increases.</a:t>
            </a:r>
          </a:p>
          <a:p>
            <a:r>
              <a:rPr lang="en-US" b="1" dirty="0"/>
              <a:t>Use in this project:</a:t>
            </a:r>
            <a:r>
              <a:rPr lang="en-US" dirty="0"/>
              <a:t> Detects day/night condition for automatic light control.</a:t>
            </a:r>
          </a:p>
          <a:p>
            <a:r>
              <a:rPr lang="en-US" b="1" dirty="0"/>
              <a:t>Other applications:</a:t>
            </a:r>
            <a:r>
              <a:rPr lang="en-US" dirty="0"/>
              <a:t> Automatic street lights, brightness control, solar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02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7A15-B30E-260E-D8F7-B8A58490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B9BEF-7B20-450B-4776-596497DF2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Servo Motor</a:t>
            </a:r>
          </a:p>
          <a:p>
            <a:r>
              <a:rPr lang="en-US" b="1" dirty="0"/>
              <a:t>Working range:</a:t>
            </a:r>
            <a:r>
              <a:rPr lang="en-US" dirty="0"/>
              <a:t> 0° to 180° (standard servo).</a:t>
            </a:r>
          </a:p>
          <a:p>
            <a:r>
              <a:rPr lang="en-US" b="1" dirty="0"/>
              <a:t>Operating voltage:</a:t>
            </a:r>
            <a:r>
              <a:rPr lang="en-US" dirty="0"/>
              <a:t> 4.8 V – 6 V.</a:t>
            </a:r>
          </a:p>
          <a:p>
            <a:r>
              <a:rPr lang="en-IN" b="1" dirty="0"/>
              <a:t>Control pin (output from MCU):</a:t>
            </a:r>
            <a:r>
              <a:rPr lang="en-IN" dirty="0"/>
              <a:t> PWM pin (e.g. </a:t>
            </a:r>
            <a:r>
              <a:rPr lang="en-IN" b="1" dirty="0"/>
              <a:t>PA8 / TIM1_CH1</a:t>
            </a:r>
            <a:r>
              <a:rPr lang="en-IN" dirty="0"/>
              <a:t>)</a:t>
            </a:r>
          </a:p>
          <a:p>
            <a:r>
              <a:rPr lang="en-IN" b="1" dirty="0"/>
              <a:t>Input to servo:</a:t>
            </a:r>
            <a:r>
              <a:rPr lang="en-IN" dirty="0"/>
              <a:t> PWM signal (50 Hz)</a:t>
            </a:r>
          </a:p>
          <a:p>
            <a:r>
              <a:rPr lang="en-IN" b="1" dirty="0"/>
              <a:t>Data source:</a:t>
            </a:r>
            <a:r>
              <a:rPr lang="en-IN" dirty="0"/>
              <a:t> Control command received via CAN</a:t>
            </a:r>
            <a:endParaRPr lang="en-US" dirty="0"/>
          </a:p>
          <a:p>
            <a:r>
              <a:rPr lang="en-US" b="1" dirty="0"/>
              <a:t>Use in this project:</a:t>
            </a:r>
            <a:r>
              <a:rPr lang="en-US" dirty="0"/>
              <a:t> Used to mechanically adjust or direct the light angle based on sensor inputs.</a:t>
            </a:r>
          </a:p>
          <a:p>
            <a:r>
              <a:rPr lang="en-US" b="1" dirty="0"/>
              <a:t>Other applications:</a:t>
            </a:r>
            <a:r>
              <a:rPr lang="en-US" dirty="0"/>
              <a:t> Robotics, camera pan-tilt systems, automatic doors, smart blinds.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77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947D-4277-DF12-C223-4C0E1870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about CAN protocol:-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E8387-E572-0169-BE9B-BE45C96F3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(Controller Area Network) is a robust serial communication protocol mainly used in embedded and automotive systems.</a:t>
            </a:r>
            <a:br>
              <a:rPr lang="en-US" dirty="0"/>
            </a:br>
            <a:r>
              <a:rPr lang="en-US" dirty="0"/>
              <a:t>It supports </a:t>
            </a:r>
            <a:r>
              <a:rPr lang="en-US" b="1" dirty="0"/>
              <a:t>multi-master communication</a:t>
            </a:r>
            <a:r>
              <a:rPr lang="en-US" dirty="0"/>
              <a:t>, allowing multiple nodes to transmit data without a central controller.</a:t>
            </a:r>
            <a:br>
              <a:rPr lang="en-US" dirty="0"/>
            </a:br>
            <a:r>
              <a:rPr lang="en-US" dirty="0"/>
              <a:t>CAN uses </a:t>
            </a:r>
            <a:r>
              <a:rPr lang="en-US" b="1" dirty="0"/>
              <a:t>differential signaling (CANH and CANL)</a:t>
            </a:r>
            <a:r>
              <a:rPr lang="en-US" dirty="0"/>
              <a:t>, which provides high noise immunity.</a:t>
            </a:r>
            <a:br>
              <a:rPr lang="en-US" dirty="0"/>
            </a:br>
            <a:r>
              <a:rPr lang="en-US" dirty="0"/>
              <a:t>It works on </a:t>
            </a:r>
            <a:r>
              <a:rPr lang="en-US" b="1" dirty="0"/>
              <a:t>message-based communication</a:t>
            </a:r>
            <a:r>
              <a:rPr lang="en-US" dirty="0"/>
              <a:t>, where data is identified by message IDs instead of device addresses.</a:t>
            </a:r>
            <a:br>
              <a:rPr lang="en-US" dirty="0"/>
            </a:br>
            <a:r>
              <a:rPr lang="en-US" dirty="0"/>
              <a:t>CAN supports data rates up to </a:t>
            </a:r>
            <a:r>
              <a:rPr lang="en-US" b="1" dirty="0"/>
              <a:t>1 Mbps</a:t>
            </a:r>
            <a:r>
              <a:rPr lang="en-US" dirty="0"/>
              <a:t> in Classical CAN.</a:t>
            </a:r>
            <a:br>
              <a:rPr lang="en-US" dirty="0"/>
            </a:br>
            <a:r>
              <a:rPr lang="en-US" dirty="0"/>
              <a:t>It has </a:t>
            </a:r>
            <a:r>
              <a:rPr lang="en-US" b="1" dirty="0"/>
              <a:t>built-in error detection and fault confinement</a:t>
            </a:r>
            <a:r>
              <a:rPr lang="en-US" dirty="0"/>
              <a:t> mechanisms.</a:t>
            </a:r>
            <a:br>
              <a:rPr lang="en-US" dirty="0"/>
            </a:br>
            <a:r>
              <a:rPr lang="en-US" dirty="0"/>
              <a:t>Priority-based arbitration ensures that high-priority messages are transmitted first.</a:t>
            </a:r>
            <a:br>
              <a:rPr lang="en-US" dirty="0"/>
            </a:br>
            <a:r>
              <a:rPr lang="en-US" dirty="0"/>
              <a:t>CAN is widely used in automotive, industrial automation, and real-time control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30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73166-471E-4F53-AB83-CAC954859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CAN protocol in this project:-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AA9A6-621A-FB08-7800-C5EA4B6BB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project, the CAN protocol is used to enable reliable and real-time communication between multiple lighting nodes.</a:t>
            </a:r>
            <a:br>
              <a:rPr lang="en-US" dirty="0"/>
            </a:br>
            <a:r>
              <a:rPr lang="en-US" dirty="0"/>
              <a:t>It allows sensor data from IR, ultrasonic, and LDR sensors to be shared across the network.</a:t>
            </a:r>
            <a:br>
              <a:rPr lang="en-US" dirty="0"/>
            </a:br>
            <a:r>
              <a:rPr lang="en-US" dirty="0"/>
              <a:t>CAN ensures fast and error-free data transfer even in noisy electrical environments.</a:t>
            </a:r>
            <a:br>
              <a:rPr lang="en-US" dirty="0"/>
            </a:br>
            <a:r>
              <a:rPr lang="en-US" dirty="0"/>
              <a:t>It helps in centralized control of multiple lights using a single controller.</a:t>
            </a:r>
            <a:br>
              <a:rPr lang="en-US" dirty="0"/>
            </a:br>
            <a:r>
              <a:rPr lang="en-US" dirty="0"/>
              <a:t>Priority-based messaging ensures critical control commands are transmitted first.</a:t>
            </a:r>
            <a:br>
              <a:rPr lang="en-US" dirty="0"/>
            </a:br>
            <a:r>
              <a:rPr lang="en-US" dirty="0"/>
              <a:t>CAN reduces wiring complexity compared to point-to-point communication.</a:t>
            </a:r>
            <a:br>
              <a:rPr lang="en-US" dirty="0"/>
            </a:br>
            <a:r>
              <a:rPr lang="en-US" dirty="0"/>
              <a:t>It improves system scalability by allowing easy addition of new nodes.</a:t>
            </a:r>
            <a:br>
              <a:rPr lang="en-US" dirty="0"/>
            </a:br>
            <a:r>
              <a:rPr lang="en-US" dirty="0"/>
              <a:t>Overall, CAN makes the smart lighting system efficient, robust, and reliable.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3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5B43-1A6E-C317-22C7-EE2BCA0A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Data Frame:-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509293-A33C-807B-E644-EEB609B46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4680" y="1956816"/>
            <a:ext cx="4656706" cy="3912172"/>
          </a:xfrm>
        </p:spPr>
      </p:pic>
    </p:spTree>
    <p:extLst>
      <p:ext uri="{BB962C8B-B14F-4D97-AF65-F5344CB8AC3E}">
        <p14:creationId xmlns:p14="http://schemas.microsoft.com/office/powerpoint/2010/main" val="193178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C1CFA-5A2C-AAB5-CAC4-3E3919015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ESP32:-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CCAA2-ED5B-600D-17AB-3A2B0B403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ESP32</a:t>
            </a:r>
            <a:r>
              <a:rPr lang="en-US" dirty="0"/>
              <a:t> is a low-cost, low-power System-on-Chip (SoC) developed by </a:t>
            </a:r>
            <a:r>
              <a:rPr lang="en-US" b="1" dirty="0" err="1"/>
              <a:t>Espressif</a:t>
            </a:r>
            <a:r>
              <a:rPr lang="en-US" b="1" dirty="0"/>
              <a:t> Systems</a:t>
            </a:r>
            <a:r>
              <a:rPr lang="en-US" dirty="0"/>
              <a:t>, designed for embedded and IoT applications.</a:t>
            </a:r>
            <a:br>
              <a:rPr lang="en-US" dirty="0"/>
            </a:br>
            <a:r>
              <a:rPr lang="en-US" dirty="0"/>
              <a:t>It features a </a:t>
            </a:r>
            <a:r>
              <a:rPr lang="en-US" b="1" dirty="0"/>
              <a:t>dual-core 32-bit Tensilica Xtensa LX6 processor</a:t>
            </a:r>
            <a:r>
              <a:rPr lang="en-US" dirty="0"/>
              <a:t> with integrated </a:t>
            </a:r>
            <a:r>
              <a:rPr lang="en-US" b="1" dirty="0"/>
              <a:t>Wi-Fi (802.11 b/g/n)</a:t>
            </a:r>
            <a:r>
              <a:rPr lang="en-US" dirty="0"/>
              <a:t> and </a:t>
            </a:r>
            <a:r>
              <a:rPr lang="en-US" b="1" dirty="0"/>
              <a:t>Bluetooth (Classic + BLE)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ESP32 provides rich peripherals such as </a:t>
            </a:r>
            <a:r>
              <a:rPr lang="en-US" b="1" dirty="0"/>
              <a:t>GPIO, ADC, DAC, PWM, UART, SPI, I²C, I²S, and CAN (TWAI)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supports multiple power-saving modes, making it suitable for energy-efficient systems.</a:t>
            </a:r>
            <a:br>
              <a:rPr lang="en-US" dirty="0"/>
            </a:br>
            <a:r>
              <a:rPr lang="en-US" dirty="0"/>
              <a:t>ESP32 can be programmed using </a:t>
            </a:r>
            <a:r>
              <a:rPr lang="en-US" b="1" dirty="0"/>
              <a:t>ESP-IDF or Arduino framework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Due to its high performance, connectivity, and flexibility, ESP32 is widely used in </a:t>
            </a:r>
            <a:r>
              <a:rPr lang="en-US" b="1" dirty="0"/>
              <a:t>smart home, industrial, and automation projects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374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C2B4-516D-BDF3-303C-D18D00E7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ESP32??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FE939-4977-BCEE-3412-98AF82216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ESP32 is used in this project because it provides </a:t>
            </a:r>
            <a:r>
              <a:rPr lang="en-US" b="1" dirty="0"/>
              <a:t>wireless connectivity (Wi-Fi/Bluetooth)</a:t>
            </a:r>
            <a:r>
              <a:rPr lang="en-US" dirty="0"/>
              <a:t> for remote monitoring and control of the smart lighting system.</a:t>
            </a:r>
            <a:br>
              <a:rPr lang="en-US" dirty="0"/>
            </a:br>
            <a:r>
              <a:rPr lang="en-US" dirty="0"/>
              <a:t>It acts as a </a:t>
            </a:r>
            <a:r>
              <a:rPr lang="en-US" b="1" dirty="0"/>
              <a:t>gateway between the CAN network and the user interface (mobile/web)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ESP32 supports the </a:t>
            </a:r>
            <a:r>
              <a:rPr lang="en-US" b="1" dirty="0"/>
              <a:t>CAN (TWAI) protocol</a:t>
            </a:r>
            <a:r>
              <a:rPr lang="en-US" dirty="0"/>
              <a:t>, enabling direct communication with the CAN bus.</a:t>
            </a:r>
            <a:br>
              <a:rPr lang="en-US" dirty="0"/>
            </a:br>
            <a:r>
              <a:rPr lang="en-US" dirty="0"/>
              <a:t>Its high processing power allows </a:t>
            </a:r>
            <a:r>
              <a:rPr lang="en-US" b="1" dirty="0"/>
              <a:t>data aggregation and decision making</a:t>
            </a:r>
            <a:r>
              <a:rPr lang="en-US" dirty="0"/>
              <a:t> from multiple sensor nodes.</a:t>
            </a:r>
            <a:br>
              <a:rPr lang="en-US" dirty="0"/>
            </a:br>
            <a:r>
              <a:rPr lang="en-US" dirty="0"/>
              <a:t>Low power consumption makes it suitable for </a:t>
            </a:r>
            <a:r>
              <a:rPr lang="en-US" b="1" dirty="0"/>
              <a:t>continuous operation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Overall, ESP32 adds </a:t>
            </a:r>
            <a:r>
              <a:rPr lang="en-US" b="1" dirty="0"/>
              <a:t>connectivity, intelligence, and scalability</a:t>
            </a:r>
            <a:r>
              <a:rPr lang="en-US" dirty="0"/>
              <a:t> to the project.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4033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9931E-15A7-73BB-ADEB-02074E711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ESP32:-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C09E14-1124-2B02-9F80-B6FE258EEE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ESP32 acts as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gateway and communication controller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this smart lighting system.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receives sensor and control data from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network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 processes this data and makes control decisions for the lighting system.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Wi-Fi/Bluetooth connectivity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remote monitoring and control.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 sends commands back to CAN nodes to control lights and actuators.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Thus, it enables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control, connectivity, and system integration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208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201F-02EF-2384-D430-6B7CB04C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ESP32 &amp; CAN support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3BD81-A573-949F-3DE8-24CE6D7F0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ESP32 supports CAN communication through its </a:t>
            </a:r>
            <a:r>
              <a:rPr lang="en-US" b="1" dirty="0"/>
              <a:t>built-in CAN controller</a:t>
            </a:r>
            <a:r>
              <a:rPr lang="en-US" dirty="0"/>
              <a:t>, known as </a:t>
            </a:r>
            <a:r>
              <a:rPr lang="en-US" b="1" dirty="0"/>
              <a:t>TWAI (Two-Wire Automotive Interface)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compliant with the </a:t>
            </a:r>
            <a:r>
              <a:rPr lang="en-US" b="1" dirty="0"/>
              <a:t>CAN 2.0A and CAN 2.0B</a:t>
            </a:r>
            <a:r>
              <a:rPr lang="en-US" dirty="0"/>
              <a:t> standards.</a:t>
            </a:r>
            <a:br>
              <a:rPr lang="en-US" dirty="0"/>
            </a:br>
            <a:r>
              <a:rPr lang="en-US" dirty="0"/>
              <a:t>ESP32 </a:t>
            </a:r>
            <a:r>
              <a:rPr lang="en-US" b="1" dirty="0"/>
              <a:t>does not have an internal CAN transceiver</a:t>
            </a:r>
            <a:r>
              <a:rPr lang="en-US" dirty="0"/>
              <a:t>, so an </a:t>
            </a:r>
            <a:r>
              <a:rPr lang="en-US" b="1" dirty="0"/>
              <a:t>external CAN transceiver</a:t>
            </a:r>
            <a:r>
              <a:rPr lang="en-US" dirty="0"/>
              <a:t> (such as SN65HVD230 or MCP2551) is required.</a:t>
            </a:r>
            <a:br>
              <a:rPr lang="en-US" dirty="0"/>
            </a:br>
            <a:r>
              <a:rPr lang="en-US" dirty="0"/>
              <a:t>The ESP32’s </a:t>
            </a:r>
            <a:r>
              <a:rPr lang="en-US" b="1" dirty="0"/>
              <a:t>GPIO pins are configured as CAN TX and CAN RX</a:t>
            </a:r>
            <a:r>
              <a:rPr lang="en-US" dirty="0"/>
              <a:t> to interface with the transceiver.</a:t>
            </a:r>
            <a:br>
              <a:rPr lang="en-US" dirty="0"/>
            </a:br>
            <a:r>
              <a:rPr lang="en-US" dirty="0"/>
              <a:t>The TWAI driver handles </a:t>
            </a:r>
            <a:r>
              <a:rPr lang="en-US" b="1" dirty="0"/>
              <a:t>message framing, arbitration, error detection, and acknowledgment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allows ESP32 to reliably send and receive CAN messages in real-time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3852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1CEC-1692-7C91-EB29-69FB28A31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Chart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679B5B-ACEE-8122-A0CE-F7F509925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5572" y="2108200"/>
            <a:ext cx="5641182" cy="3760788"/>
          </a:xfrm>
        </p:spPr>
      </p:pic>
    </p:spTree>
    <p:extLst>
      <p:ext uri="{BB962C8B-B14F-4D97-AF65-F5344CB8AC3E}">
        <p14:creationId xmlns:p14="http://schemas.microsoft.com/office/powerpoint/2010/main" val="2295729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Title Lorem Ipsum </a:t>
            </a:r>
          </a:p>
        </p:txBody>
      </p:sp>
      <p:graphicFrame>
        <p:nvGraphicFramePr>
          <p:cNvPr id="4" name="Content Placeholder 2" descr="SmartArt graphic">
            <a:extLst>
              <a:ext uri="{FF2B5EF4-FFF2-40B4-BE49-F238E27FC236}">
                <a16:creationId xmlns:a16="http://schemas.microsoft.com/office/drawing/2014/main" id="{59F5A1AC-D08D-42AE-B94A-1CAFB517D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72102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{CE315201-CED3-423A-BC50-3EC93BB89C37}TF235124e3-e6db-4c6d-93c8-733f2fadbc609fb6f57c_win32-b1e91d96f19e</Template>
  <TotalTime>96</TotalTime>
  <Words>1233</Words>
  <Application>Microsoft Office PowerPoint</Application>
  <PresentationFormat>Widescreen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Georgia Pro Cond Light</vt:lpstr>
      <vt:lpstr>Speak Pro</vt:lpstr>
      <vt:lpstr>Wingdings</vt:lpstr>
      <vt:lpstr>RetrospectVTI</vt:lpstr>
      <vt:lpstr>Smart lightning system using CAN protocol</vt:lpstr>
      <vt:lpstr>INTRODUCTION</vt:lpstr>
      <vt:lpstr>CAN Architecture in Smart lighting system</vt:lpstr>
      <vt:lpstr>Information about the Sensors that used:-</vt:lpstr>
      <vt:lpstr>PowerPoint Presentation</vt:lpstr>
      <vt:lpstr>PowerPoint Presentation</vt:lpstr>
      <vt:lpstr>PowerPoint Presentation</vt:lpstr>
      <vt:lpstr>Information about CAN protocol:-</vt:lpstr>
      <vt:lpstr>Use of CAN protocol in this project:-</vt:lpstr>
      <vt:lpstr>CAN Data Frame:-</vt:lpstr>
      <vt:lpstr>Introduction to ESP32:-</vt:lpstr>
      <vt:lpstr>Why ESP32??</vt:lpstr>
      <vt:lpstr>Role of ESP32:-</vt:lpstr>
      <vt:lpstr>ESP32 &amp; CAN support</vt:lpstr>
      <vt:lpstr>Data Flow Chart</vt:lpstr>
      <vt:lpstr>Title Lorem Ipsum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2026-01-25T07:26:30Z</dcterms:created>
  <dcterms:modified xsi:type="dcterms:W3CDTF">2026-01-26T15:23:33Z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